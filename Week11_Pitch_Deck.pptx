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KPC Secure Operational Data Pipeline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909560" y="64739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Stanley Metone | Team Apex Innovators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KPC Secure Operational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Data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304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7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Board Pitch | Week 11 Strategic Business Case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9443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Stanley Metone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 Lead / Data Scientist | Team Apex Innovators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261872"/>
            <a:ext cx="3566160" cy="2240280"/>
          </a:xfrm>
          <a:prstGeom prst="roundRect">
            <a:avLst>
              <a:gd name="adj" fmla="val 2041"/>
            </a:avLst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6184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28432" y="2011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65008" y="2697480"/>
            <a:ext cx="28346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a stage-gated implementation, starting with an 8-week pilot.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5897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D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Business case uses planning assumptions that must be validated with representative KPC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operational problem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Trusted analysis is slowed by data clean-up, privacy handling and release risk.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82296" cy="29260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1. Manual rework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84248"/>
            <a:ext cx="308152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Operational records can arrive incomplete, duplicated or outside expected ranges. Analysts spend time fixing issues before the data can be trusted.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82296" cy="2926080"/>
          </a:xfrm>
          <a:prstGeom prst="rect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6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2. Sensitive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08152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Staff IDs, truck plates and location details must be protected before wider analytics use. A missed field can create avoidable compliance exposure.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429000" cy="29260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82296" cy="292608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 Deployment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984248"/>
            <a:ext cx="3081528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broken analytics release can reduce trust or disrupt reporting. Changes need testing, health checks and a safe way to return to the last working version.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188720" y="4800600"/>
            <a:ext cx="9784080" cy="960120"/>
          </a:xfrm>
          <a:prstGeom prst="roundRect">
            <a:avLst>
              <a:gd name="adj" fmla="val 381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0109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Business consequence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93008" y="49651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More analyst hours spent on clean-up  |  slower decisions  |  higher privacy and operational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changes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controlled path from incoming records to decision-ready information.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9280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Incoming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1828800"/>
            <a:ext cx="548640" cy="384048"/>
          </a:xfrm>
          <a:prstGeom prst="chevron">
            <a:avLst/>
          </a:prstGeom>
          <a:solidFill>
            <a:srgbClr val="A83A3A"/>
          </a:solidFill>
          <a:ln w="12700">
            <a:solidFill>
              <a:srgbClr val="A8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11880" y="1755648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8928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Manual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974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Sensitive fields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633472"/>
            <a:ext cx="548640" cy="384048"/>
          </a:xfrm>
          <a:prstGeom prst="chevron">
            <a:avLst/>
          </a:prstGeom>
          <a:solidFill>
            <a:srgbClr val="A83A3A"/>
          </a:solidFill>
          <a:ln w="12700">
            <a:solidFill>
              <a:srgbClr val="A8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5603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26974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Ad-hoc protection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364992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50215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Alerts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80360" y="3438144"/>
            <a:ext cx="548640" cy="384048"/>
          </a:xfrm>
          <a:prstGeom prst="chevron">
            <a:avLst/>
          </a:prstGeom>
          <a:solidFill>
            <a:srgbClr val="A83A3A"/>
          </a:solidFill>
          <a:ln w="12700">
            <a:solidFill>
              <a:srgbClr val="A8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3364992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350215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Reactive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169664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30682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4242816"/>
            <a:ext cx="548640" cy="384048"/>
          </a:xfrm>
          <a:prstGeom prst="chevron">
            <a:avLst/>
          </a:prstGeom>
          <a:solidFill>
            <a:srgbClr val="A83A3A"/>
          </a:solidFill>
          <a:ln w="12700">
            <a:solidFill>
              <a:srgbClr val="A8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4169664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F7ECEC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4306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Higher change risk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WITH THE PIPELINE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1755648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189280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Incoming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41080" y="1828800"/>
            <a:ext cx="548640" cy="384048"/>
          </a:xfrm>
          <a:prstGeom prst="chevron">
            <a:avLst/>
          </a:prstGeom>
          <a:solidFill>
            <a:srgbClr val="227A54"/>
          </a:solidFill>
          <a:ln w="12700">
            <a:solidFill>
              <a:srgbClr val="227A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1755648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91472" y="18928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Checked automatically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2560320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26974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Sensitive fields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41080" y="2633472"/>
            <a:ext cx="548640" cy="384048"/>
          </a:xfrm>
          <a:prstGeom prst="chevron">
            <a:avLst/>
          </a:prstGeom>
          <a:solidFill>
            <a:srgbClr val="227A54"/>
          </a:solidFill>
          <a:ln w="12700">
            <a:solidFill>
              <a:srgbClr val="227A5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72600" y="2560320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1472" y="26974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Masked by rule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364992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2552" y="35021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Alerts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41080" y="3438144"/>
            <a:ext cx="548640" cy="384048"/>
          </a:xfrm>
          <a:prstGeom prst="chevron">
            <a:avLst/>
          </a:prstGeom>
          <a:solidFill>
            <a:srgbClr val="227A54"/>
          </a:solidFill>
          <a:ln w="12700">
            <a:solidFill>
              <a:srgbClr val="227A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72600" y="3364992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91472" y="350215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Earlier warning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4169664"/>
            <a:ext cx="187452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2552" y="43068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41080" y="4242816"/>
            <a:ext cx="548640" cy="384048"/>
          </a:xfrm>
          <a:prstGeom prst="chevron">
            <a:avLst/>
          </a:prstGeom>
          <a:solidFill>
            <a:srgbClr val="227A54"/>
          </a:solidFill>
          <a:ln w="12700">
            <a:solidFill>
              <a:srgbClr val="227A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72600" y="4169664"/>
            <a:ext cx="196596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1472" y="4306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Tested + rollback ready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5166360"/>
            <a:ext cx="7909560" cy="594360"/>
          </a:xfrm>
          <a:prstGeom prst="roundRect">
            <a:avLst>
              <a:gd name="adj" fmla="val 461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0" y="534924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Result: less avoidable rework, safer data use and faster confidence in operational decisions.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the solution works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Simple controls at each step - no single point of trust.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8408" y="1490472"/>
            <a:ext cx="658368" cy="658368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47088" y="1655064"/>
            <a:ext cx="384048" cy="310896"/>
          </a:xfrm>
          <a:prstGeom prst="chevron">
            <a:avLst/>
          </a:prstGeom>
          <a:solidFill>
            <a:srgbClr val="A8B7C1"/>
          </a:solidFill>
          <a:ln w="12700">
            <a:solidFill>
              <a:srgbClr val="A8B7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Receive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Operational records enter one controlled path.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898648" y="1490472"/>
            <a:ext cx="658368" cy="658368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67328" y="1655064"/>
            <a:ext cx="384048" cy="310896"/>
          </a:xfrm>
          <a:prstGeom prst="chevron">
            <a:avLst/>
          </a:prstGeom>
          <a:solidFill>
            <a:srgbClr val="A8B7C1"/>
          </a:solidFill>
          <a:ln w="12700">
            <a:solidFill>
              <a:srgbClr val="A8B7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Check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Schema, range, duplicate and completeness checks run automatically.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818888" y="1490472"/>
            <a:ext cx="658368" cy="658368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87568" y="1655064"/>
            <a:ext cx="384048" cy="310896"/>
          </a:xfrm>
          <a:prstGeom prst="chevron">
            <a:avLst/>
          </a:prstGeom>
          <a:solidFill>
            <a:srgbClr val="A8B7C1"/>
          </a:solidFill>
          <a:ln w="12700">
            <a:solidFill>
              <a:srgbClr val="A8B7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Protect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Defined staff, vehicle and location identifiers are masked.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739128" y="1490472"/>
            <a:ext cx="658368" cy="658368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912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07808" y="1655064"/>
            <a:ext cx="384048" cy="310896"/>
          </a:xfrm>
          <a:prstGeom prst="chevron">
            <a:avLst/>
          </a:prstGeom>
          <a:solidFill>
            <a:srgbClr val="A8B7C1"/>
          </a:solidFill>
          <a:ln w="12700">
            <a:solidFill>
              <a:srgbClr val="A8B7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Predict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Abnormal pressure patterns are flagged before hard limits where possible.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659368" y="1490472"/>
            <a:ext cx="658368" cy="658368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936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528048" y="1655064"/>
            <a:ext cx="384048" cy="310896"/>
          </a:xfrm>
          <a:prstGeom prst="chevron">
            <a:avLst/>
          </a:prstGeom>
          <a:solidFill>
            <a:srgbClr val="A8B7C1"/>
          </a:solidFill>
          <a:ln w="12700">
            <a:solidFill>
              <a:srgbClr val="A8B7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8388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Managers see quality, privacy and alert status in one dashboard.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0579608" y="1490472"/>
            <a:ext cx="658368" cy="658368"/>
          </a:xfrm>
          <a:prstGeom prst="ellipse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9608" y="16642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77272" y="233172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 safely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104120" y="2724912"/>
            <a:ext cx="1664208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Tests, security scan, canary health check and rollback protect changes.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10698480" cy="105156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471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is already built in the prototype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4407408"/>
            <a:ext cx="7269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Automated checks  •  sensitive-field masking  •  predictive alerts  •  executive dashboard  •  unit tests  •  security scan  •  Docker build  •  canary health check  •  rollback path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96519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Prototype runs on synthetic Phase 1 data; production value must be proven with representative KPC data.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success will be measured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Board-level gates tie the technical solution to operational outcomes.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46888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819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B6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&gt;=95%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58952" y="207568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accepted-record target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246888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15819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27832" y="207568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defined fields masked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246888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6712" y="15819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&lt;10%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96712" y="207568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noisy-alert target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246888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5819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&gt;=99.5%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65592" y="2075688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service-uptime target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2971800"/>
            <a:ext cx="1042416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Operational outcomes to validate during the pilot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70432" y="3730752"/>
            <a:ext cx="91440" cy="9144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65760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many analyst hours are actually spent reviewing bad records today?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70432" y="4041648"/>
            <a:ext cx="91440" cy="9144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968496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much review time disappears after automated checks?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70432" y="4352544"/>
            <a:ext cx="91440" cy="9144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79392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 managers receive earlier, useful alerts instead of more noise?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70432" y="4663440"/>
            <a:ext cx="91440" cy="9144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59028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 the team release changes safely without interrupting the last working version?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11680" y="5413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B6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Only scale if both the control metrics and the labour-saving evidence hold.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Financial case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Planning estimate: attractive return, but only if pilot assumptions are confirmed.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06324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90472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KES 5.9M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58952" y="1984248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net recurring annual savings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325880"/>
            <a:ext cx="306324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50792" y="1490472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B6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50792" y="1984248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Year-1 ROI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69480" y="1325880"/>
            <a:ext cx="3063240" cy="1078992"/>
          </a:xfrm>
          <a:prstGeom prst="roundRect">
            <a:avLst>
              <a:gd name="adj" fmla="val 3390"/>
            </a:avLst>
          </a:prstGeom>
          <a:solidFill>
            <a:srgbClr val="F0F4F7"/>
          </a:solidFill>
          <a:ln w="12700">
            <a:solidFill>
              <a:srgbClr val="F0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632" y="1490472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3.7 months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42632" y="1984248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2816352"/>
            <a:ext cx="10561320" cy="242316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Savings math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44728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25,000 records/week × 5% manual review × 4 minutes / 60 × KES 1,500/hour × 52 = KES 6.50M gross annual labour cost avoided.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97764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Less KES 0.60M annual support = KES 5.90M net recurring savings.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4389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Investment &amp; return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4736592"/>
            <a:ext cx="9555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One-time implementation: KES 1.80M. Year-1 cost = KES 2.40M. ROI = (6.50 - 2.40) / 2.40 = 171%. Payback = 1.80 / (5.90 / 12) = 3.7 months.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841248" y="55046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Assumptions: project dashboard default volume, review time and labour cost; 5% review rate derived from the 95% quality target. Investment/support costs are planning estimates.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Top risks and how we control them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recommendation is a controlled GO, not a blind full rollout.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82296" cy="3017520"/>
          </a:xfrm>
          <a:prstGeom prst="rect">
            <a:avLst/>
          </a:prstGeom>
          <a:solidFill>
            <a:srgbClr val="A83A3A"/>
          </a:solidFill>
          <a:ln w="12700">
            <a:solidFill>
              <a:srgbClr val="A8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A3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Risk 1 - the savings case is wrong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4910328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Mitigation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Run an 8-week pilot on representative operational data.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Measure actual record volume, manual review time and labour cost.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Recalculate ROI before scaling.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Stop if the value case does not hold.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17320"/>
            <a:ext cx="82296" cy="301752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Risk 2 - automation misses a critical issue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1984248"/>
            <a:ext cx="4910328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Mitigation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Keep a human override and visible exception queue.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Verify 100% masking of defined sensitive fields.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Track false alerts and tune thresholds.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Restrict access and retain automatic rollback.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554480" y="4892040"/>
            <a:ext cx="9052560" cy="685800"/>
          </a:xfrm>
          <a:prstGeom prst="roundRect">
            <a:avLst>
              <a:gd name="adj" fmla="val 533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51023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Governance rule: no scale-up decision until the pilot proves both control quality and financial value.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8-week pilot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small, measurable test before any production-scale commitment.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27048"/>
            <a:ext cx="2514600" cy="2212848"/>
          </a:xfrm>
          <a:prstGeom prst="roundRect">
            <a:avLst>
              <a:gd name="adj" fmla="val 1653"/>
            </a:avLst>
          </a:prstGeom>
          <a:solidFill>
            <a:srgbClr val="EDF3F6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Baseline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2103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Confirm data sources, review process, privacy fields and current analyst effort.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47288" y="1527048"/>
            <a:ext cx="2514600" cy="2212848"/>
          </a:xfrm>
          <a:prstGeom prst="roundRect">
            <a:avLst>
              <a:gd name="adj" fmla="val 1653"/>
            </a:avLst>
          </a:prstGeom>
          <a:solidFill>
            <a:srgbClr val="F6F1E7"/>
          </a:solidFill>
          <a:ln w="12700">
            <a:solidFill>
              <a:srgbClr val="E4D7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465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3-5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1214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&amp; test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0168" y="2633472"/>
            <a:ext cx="2103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 representative data, validate automated checks, masking and release controls.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527048"/>
            <a:ext cx="2514600" cy="2212848"/>
          </a:xfrm>
          <a:prstGeom prst="roundRect">
            <a:avLst>
              <a:gd name="adj" fmla="val 1653"/>
            </a:avLst>
          </a:prstGeom>
          <a:solidFill>
            <a:srgbClr val="EDF3F6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465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Weeks 6-7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1214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2633472"/>
            <a:ext cx="2103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repeated cycles, measure alert usefulness, analyst time saved and failure handling.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25128" y="1527048"/>
            <a:ext cx="2514600" cy="2212848"/>
          </a:xfrm>
          <a:prstGeom prst="roundRect">
            <a:avLst>
              <a:gd name="adj" fmla="val 1653"/>
            </a:avLst>
          </a:prstGeom>
          <a:solidFill>
            <a:srgbClr val="F6F1E7"/>
          </a:solidFill>
          <a:ln w="12700">
            <a:solidFill>
              <a:srgbClr val="E4D7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7465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89720" y="212140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Board gate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08008" y="2633472"/>
            <a:ext cx="2103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Recalculate ROI, review risks and decide Scale / Adjust / Stop.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Pilot exit criteria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617720"/>
            <a:ext cx="10607040" cy="841248"/>
          </a:xfrm>
          <a:prstGeom prst="roundRect">
            <a:avLst>
              <a:gd name="adj" fmla="val 4348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82896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&gt;=95% accepted records  •  100% masking of defined identifiers  •  &lt;10% noisy alerts  •  reliable release health checks  •  validated labour-saving evidence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 - approve a stage-gated implementation, beginning with the 8-week pilot.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657600" cy="3401568"/>
          </a:xfrm>
          <a:prstGeom prst="roundRect">
            <a:avLst>
              <a:gd name="adj" fmla="val 134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9202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9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07008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9718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prototype already demonstrates the core controls. The next uncertainty is not whether the code can run - it is whether the value case holds on representative KPC data.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892040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Board approvals requested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92040" y="2057400"/>
            <a:ext cx="502920" cy="50292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1762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0391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Executive sponsor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577840" y="236829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accountable sponsor to remove blockers and own the pilot decision.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4892040" y="3118104"/>
            <a:ext cx="502920" cy="502920"/>
          </a:xfrm>
          <a:prstGeom prst="ellipse">
            <a:avLst/>
          </a:prstGeom>
          <a:solidFill>
            <a:srgbClr val="0F6B6D"/>
          </a:solidFill>
          <a:ln w="12700">
            <a:solidFill>
              <a:srgbClr val="0F6B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2369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3099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Representative data access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77840" y="34290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controlled dataset that reflects real operational patterns and privacy requirements.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892040" y="4178808"/>
            <a:ext cx="502920" cy="502920"/>
          </a:xfrm>
          <a:prstGeom prst="ellipse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4160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73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Staged budget ceiling: KES 1.80M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77840" y="448970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1707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Release funds by stage; do not scale if the success gates fail.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754880" y="5321808"/>
            <a:ext cx="6217920" cy="530352"/>
          </a:xfrm>
          <a:prstGeom prst="roundRect">
            <a:avLst>
              <a:gd name="adj" fmla="val 5172"/>
            </a:avLst>
          </a:prstGeom>
          <a:solidFill>
            <a:srgbClr val="EAF5EF"/>
          </a:solidFill>
          <a:ln w="12700">
            <a:solidFill>
              <a:srgbClr val="C7E3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549554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7A5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at Week 8: SCALE  |  ADJUST  |  STOP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1707C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Team Apex Innovators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KPC Secure Operational Data Pipeline</dc:title>
  <dc:subject>Week 11 Board Pitch - KPC Secure Operational Data Pipeline</dc:subject>
  <dc:creator>Stanley Metone</dc:creator>
  <cp:lastModifiedBy>Stanley Metone</cp:lastModifiedBy>
  <cp:revision>1</cp:revision>
  <dcterms:created xsi:type="dcterms:W3CDTF">2026-09-15T12:15:12Z</dcterms:created>
  <dcterms:modified xsi:type="dcterms:W3CDTF">2026-09-15T12:15:12Z</dcterms:modified>
</cp:coreProperties>
</file>